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95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de investigación de IA e impacto ambiental. El enfoque es el problema y la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contaminante invisible en el día a día, pero con una ruta directa al organismo.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grupos vulnerables son precisamente quienes pueden ajustar su exposición si se les avisa 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líneas punteadas marcan el límite mexicano (10) y la directriz de la OMS (5).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clave para la predicción: el fenómeno es recurrente y depende de condiciones que se conocen con horas de anticipación.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mitad del problema: no solo hay contaminación, hay un hueco de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hacia la propuesta: la materia prima ya está disponible y es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aquí. Esta pregunta separa la parte de diagnóstico de la parte de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es el horizonte de 24 horas y que no requiere hardware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Mención breve de lo técnico. El detalle de hiperparámetros y regularización está en el documento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Restablecer una red convencional sigue siendo necesario; los componentes son complementarios.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no técnica del diagrama de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predicción se conecta con la normativa mexicana de comunicación del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herramienta no sustituye la decisión de la autoridad; aporta anticipación y contexto para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Delimitación honesta: sirve para responder por qué todavía no hay resultados de desempeño.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 validación empírica es el paso siguiente del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nológico Nacional de Méxic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104" y="777240"/>
            <a:ext cx="2043953" cy="86868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3" name="Image 1" descr="Instituto Tecnológico de Culiacá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777240"/>
            <a:ext cx="868680" cy="86868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1417320" y="2057400"/>
            <a:ext cx="9354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de un modelo predictivo basado en redes neuronales artificiales para el pronóstico de concentraciones de PM2.5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828800" y="425196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Rodriguez López Said Armando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Santacruz Maldonado Oscar Said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72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Zuriel Dathan Mora Félix  |  Tópicos de Inteligencia Artificial · 9.º semestre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</a:t>
            </a:r>
            <a:endParaRPr lang="en-US" sz="2800" dirty="0"/>
          </a:p>
        </p:txBody>
      </p:sp>
      <p:pic>
        <p:nvPicPr>
          <p:cNvPr id="4" name="Image 0" descr="Comparación de tamaño entre un cabello humano de 50 a 70 micrómetros, la arena fina de playa de 90 micrómetros y las partículas PM2.5 y PM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672821"/>
            <a:ext cx="6035040" cy="4216445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66928" y="1120696"/>
            <a:ext cx="4714373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es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PM 2.5 son partículas sólidas y líquidas suspendidas en el aire, de 2.5 micrómetros o menos: unas treinta veces más finas que un cabello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humano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  <a:p>
            <a:pPr marL="0" indent="0" algn="l">
              <a:spcAft>
                <a:spcPts val="1400"/>
              </a:spcAft>
              <a:buNone/>
            </a:pP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importa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tamaño le permite llegar a los alvéolos pulmonares y, en ciertos casos, al torrente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sanguíneo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  <a:p>
            <a:pPr marL="0" indent="0" algn="l">
              <a:spcAft>
                <a:spcPts val="1400"/>
              </a:spcAft>
              <a:buNone/>
            </a:pP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dónde viene en Culiacán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Tránsito vehicular, quema agrícola en la periferia, industria y, en festividades, pirotecnia y fogatas.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Problemática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988759" y="2028824"/>
            <a:ext cx="4636008" cy="318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Padecimientos asociados </a:t>
            </a:r>
            <a:r>
              <a:rPr lang="en-US" sz="1600" b="1" dirty="0" err="1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Culiacán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exposición sostenida al PM 2.5 tiene una consecuencia médica documentada: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Enfermedad pulmonar obstructiva crónica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asmáticas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Infecciones respiratorias agudas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Padecimientos cardiovasculares</a:t>
            </a:r>
            <a:endParaRPr lang="en-US" sz="1600" dirty="0"/>
          </a:p>
        </p:txBody>
      </p:sp>
      <p:pic>
        <p:nvPicPr>
          <p:cNvPr id="7" name="Picture 2" descr="Grupos de riesgo sensibles a PM2.5: vector de stock (libre de regalías)  1319313536 | Shutterstock">
            <a:extLst>
              <a:ext uri="{FF2B5EF4-FFF2-40B4-BE49-F238E27FC236}">
                <a16:creationId xmlns:a16="http://schemas.microsoft.com/office/drawing/2014/main" id="{3F3EB7CD-BE33-82AC-E4A2-DC34BA784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4"/>
          <a:stretch>
            <a:fillRect/>
          </a:stretch>
        </p:blipFill>
        <p:spPr bwMode="auto">
          <a:xfrm>
            <a:off x="883565" y="2612734"/>
            <a:ext cx="4716982" cy="3519193"/>
          </a:xfrm>
          <a:prstGeom prst="roundRect">
            <a:avLst>
              <a:gd name="adj" fmla="val 35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507E5D8-5203-9247-25E5-0D125550B046}"/>
              </a:ext>
            </a:extLst>
          </p:cNvPr>
          <p:cNvSpPr txBox="1"/>
          <p:nvPr/>
        </p:nvSpPr>
        <p:spPr>
          <a:xfrm>
            <a:off x="883565" y="1108759"/>
            <a:ext cx="5048931" cy="150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400"/>
              </a:spcAft>
            </a:pPr>
            <a:r>
              <a:rPr lang="es-MX" sz="1600" dirty="0">
                <a:solidFill>
                  <a:srgbClr val="334759"/>
                </a:solidFill>
                <a:latin typeface="Georgia" pitchFamily="34" charset="0"/>
              </a:rPr>
              <a:t>A diferencia de partículas más grandes, el PM2.5 no es filtrado por las vías respiratorias superiores, por lo que llega hasta los alvéolos pulmonares e incluso al sistema circulatorio.</a:t>
            </a:r>
            <a:endParaRPr lang="en-US" sz="1600" dirty="0">
              <a:solidFill>
                <a:srgbClr val="334759"/>
              </a:solidFill>
              <a:latin typeface="Georgi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43584"/>
            <a:ext cx="463600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550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Culiacán respira por encima del límite legal y al doble de la referencia internacional: dos años seguidos fuera de norma, no es un pico aislado.</a:t>
            </a:r>
            <a:endParaRPr lang="en-US" sz="13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+30 %</a:t>
            </a:r>
            <a:endParaRPr lang="en-US" sz="1350" dirty="0">
              <a:solidFill>
                <a:schemeClr val="accent1"/>
              </a:solidFill>
            </a:endParaRPr>
          </a:p>
          <a:p>
            <a:pPr marL="0" indent="0" algn="l">
              <a:spcAft>
                <a:spcPts val="1400"/>
              </a:spcAft>
              <a:buNone/>
            </a:pPr>
            <a:r>
              <a:rPr lang="en-US" sz="1200" dirty="0">
                <a:solidFill>
                  <a:srgbClr val="5D72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encima del límite anual mexicano en 2024</a:t>
            </a:r>
            <a:endParaRPr lang="en-US" sz="13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+26.9 %</a:t>
            </a:r>
            <a:endParaRPr lang="en-US" sz="1350" dirty="0">
              <a:solidFill>
                <a:schemeClr val="accent1"/>
              </a:solidFill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D72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encima del mismo límite en 2025</a:t>
            </a:r>
            <a:endParaRPr lang="en-US" sz="13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E02F08-5DD0-BB98-9768-27A03042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357" y="2293613"/>
            <a:ext cx="6453939" cy="2974862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Comportamiento del fenómeno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Estacionalidad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5330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Diciembre y enero concentran las condiciones más desfavorables del año, con promedios que casi triplican los de agosto.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91072" y="1243584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Inversión térmica</a:t>
            </a:r>
            <a:endParaRPr lang="en-US" sz="1500" dirty="0"/>
          </a:p>
        </p:txBody>
      </p:sp>
      <p:pic>
        <p:nvPicPr>
          <p:cNvPr id="8" name="Image 1" descr="Ilustración de la situación normal frente a la inversión térmica sobre la ciudad"/>
          <p:cNvPicPr>
            <a:picLocks noChangeAspect="1"/>
          </p:cNvPicPr>
          <p:nvPr/>
        </p:nvPicPr>
        <p:blipFill>
          <a:blip r:embed="rId3"/>
          <a:srcRect l="4075" r="3682" b="11490"/>
          <a:stretch>
            <a:fillRect/>
          </a:stretch>
        </p:blipFill>
        <p:spPr>
          <a:xfrm>
            <a:off x="6291071" y="1742156"/>
            <a:ext cx="5235897" cy="2637596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293815" y="4585716"/>
            <a:ext cx="5330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condiciones normales el aire caliente asciende y dispersa los contaminantes, en una inversión térmica una capa de aire más cálido queda por encima del aire frío y actúa como tapa, de modo que las partículas se quedan donde respira la gente.</a:t>
            </a:r>
            <a:endParaRPr lang="en-U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D4CFD3-13DE-9C34-FFA0-4FEE3FA8B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8" y="2520696"/>
            <a:ext cx="4876800" cy="304800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institucional</a:t>
            </a:r>
            <a:endParaRPr lang="en-US" sz="2800" dirty="0"/>
          </a:p>
        </p:txBody>
      </p:sp>
      <p:pic>
        <p:nvPicPr>
          <p:cNvPr id="4" name="Image 0" descr="Las cuatro estaciones normadas de Sinaloa, en Los Mochis, Guasave, Culiacán y Mazatlán, marcadas como inactiv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1657"/>
            <a:ext cx="6035040" cy="3638774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986016" y="932688"/>
            <a:ext cx="463600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Casi no hay quien lo mida: las cuatro estaciones normadas del estado han permanecido inactivas buena parte de la última década por limitaciones de presupuesto, calibración y mantenimiento.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series oportunas, las dependencias tienen menos evidencia para emitir alertas, declarar contingencias o evaluar políticas.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población el efecto es más simple: durante periodos largos se desconoce la calidad del aire que se respira.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Antecedentes</a:t>
            </a:r>
            <a:endParaRPr lang="en-US" sz="2800" dirty="0"/>
          </a:p>
        </p:txBody>
      </p:sp>
      <p:pic>
        <p:nvPicPr>
          <p:cNvPr id="4" name="Image 0" descr="Esquema de una red de sensores ciudadanos de bajo costo distribuidos en la mancha urba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952244"/>
            <a:ext cx="6035040" cy="365760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396012" y="1141035"/>
            <a:ext cx="463600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Quién mide hoy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datos ya existen aunque no vengan de la infraestructura oficial: Mapasin y Redspira desplegaron sensores de bajo costo fuera de la red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estatal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  <a:p>
            <a:pPr marL="0" indent="0" algn="l">
              <a:spcAft>
                <a:spcPts val="1400"/>
              </a:spcAft>
              <a:buNone/>
            </a:pP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aportan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históricas con continuidad suficiente para plantear un ejercicio de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  <a:p>
            <a:pPr marL="0" indent="0" algn="l">
              <a:spcAft>
                <a:spcPts val="1400"/>
              </a:spcAft>
              <a:buNone/>
            </a:pP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no resuelven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Describen el presente: dicen lo que hay ahora, no lo que vendrá mañana.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de investigación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1828800"/>
            <a:ext cx="72511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información ya se genera, ¿puede aprovecharse para anticipar el riesgo, en lugar de solo describirlo después de que el episodio ocurrió?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Solución planteada</a:t>
            </a:r>
            <a:endParaRPr lang="en-US" sz="2800" dirty="0"/>
          </a:p>
        </p:txBody>
      </p:sp>
      <p:pic>
        <p:nvPicPr>
          <p:cNvPr id="4" name="Image 0" descr="Línea de tiempo: los datos de las últimas 24 horas alimentan el modelo, que produce un pronóstico horario para las siguientes 24 ho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33032"/>
            <a:ext cx="11057839" cy="1101464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66928" y="370332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566928" y="381304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qué se alimenta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Sensores ciudadanos, variables meteorológicas abiertas y patrones temporales que aproximan el tránsito.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379976" y="370332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4379976" y="381304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entrega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 de redes neuronales estima la serie horaria del día siguiente, traducida a una categoría de riesgo comprensible.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193024" y="370332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8193024" y="3813048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quién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Población sensible, escuelas y centros de salud, y autoridades que deciden medidas preventivas.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utilizado</a:t>
            </a:r>
            <a:endParaRPr lang="en-US" sz="2800" dirty="0"/>
          </a:p>
        </p:txBody>
      </p:sp>
      <p:pic>
        <p:nvPicPr>
          <p:cNvPr id="4" name="Image 0" descr="Arquitectura del perceptrón multicapa: capa de entrada con PM2.5, viento, presión, humedad y temperatura; dos capas ocultas con ReLU y dropout; capa de salida con la predicción horaria de las próximas 24 ho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45" y="2131161"/>
            <a:ext cx="6464329" cy="2765579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986016" y="1175217"/>
            <a:ext cx="463600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Perceptrón multicapa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términos generales, un perceptrón multicapa: neuronas en capas que aprenden relaciones no lineales entre el clima, la hora y la concentración.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Retropropagación</a:t>
            </a:r>
            <a:endParaRPr lang="en-US" sz="16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 la estimación con la medición real y reparte el error entre las conexiones para corregirlas en cada iteración.</a:t>
            </a:r>
            <a:endParaRPr lang="en-US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 base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la arquitectura definitiva: si las series alcanzan longitud suficiente, se compararía contra una red LSTM.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3095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Icono de un sensor que mide el estado presente del ai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6974"/>
            <a:ext cx="2651760" cy="540388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932688" y="2971800"/>
            <a:ext cx="4599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sensor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la observación primaria y describe el estado presente. Depende de una operación física continua: equipos, calibración y mantenimiento.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291072" y="1828800"/>
            <a:ext cx="533095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1" descr="Icono de un modelo que proyecta el estado futuro del ai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20551"/>
            <a:ext cx="2651760" cy="533234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656832" y="2971800"/>
            <a:ext cx="4599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Recibe esas observaciones, incorpora variables meteorológicas y calcula una estimación futura. Es replicable en otros sitios con datos representativos.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2013051" y="5571516"/>
            <a:ext cx="8165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no sustituye al monitoreo: lo aprovecha. Lo que aporta es anticipación, no una lectura que ya existe en tiempo real.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</a:t>
            </a:r>
            <a:endParaRPr lang="en-US" sz="2800" dirty="0"/>
          </a:p>
        </p:txBody>
      </p:sp>
      <p:pic>
        <p:nvPicPr>
          <p:cNvPr id="4" name="Image 0" descr="Diagrama de flujo de las cuatro fases: reunir los datos, limpiarlos, aprender el patrón y avis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72326"/>
            <a:ext cx="11057839" cy="685716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66928" y="3703320"/>
            <a:ext cx="25146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566928" y="38130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Reunir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funcionaría en cuatro pasos. Primero, reunir concentraciones de la red ciudadana, clima abierto y marcas de tiempo.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410712" y="3703320"/>
            <a:ext cx="25146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3410712" y="38130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Limpiar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sensores de bajo costo fallan y dejan huecos; se completan y se ponen en escala comparable.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54496" y="3703320"/>
            <a:ext cx="25146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6254496" y="38130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Aprender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red aprende de los años anteriores qué combinaciones de clima y hora anteceden a un episodio.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098280" y="3703320"/>
            <a:ext cx="25146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9098280" y="3813048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Avisar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pronóstico se convierte en una categoría de riesgo con su recomendación sanitaria.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del riesgo</a:t>
            </a:r>
            <a:endParaRPr lang="en-US" sz="2800" dirty="0"/>
          </a:p>
        </p:txBody>
      </p:sp>
      <p:pic>
        <p:nvPicPr>
          <p:cNvPr id="4" name="Image 0" descr="Escala del Índice Aire y Salud para PM2.5 con cinco categorías: buena, aceptable, mala, muy mala y extremadamente ma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27552"/>
            <a:ext cx="11057839" cy="1814177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2011680" y="4399802"/>
            <a:ext cx="8165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una cifra técnica a un mensaje que se entiende fuera del entorno especializado: el pronóstico numérico se traduce a las categorías del Índice Aire y Salud, de modo que el resultado deje de ser una salida matemática y se convierta en una recomendación accionable.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esperado</a:t>
            </a:r>
            <a:endParaRPr lang="en-US" sz="2800" dirty="0"/>
          </a:p>
        </p:txBody>
      </p:sp>
      <p:pic>
        <p:nvPicPr>
          <p:cNvPr id="4" name="Image 0" descr="Icono de una escuela y un hospit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528" y="2240280"/>
            <a:ext cx="1447800" cy="68580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66928" y="315468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566928" y="3282696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pública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24 horas de aviso, escuelas, hospitales y centros geriátricos podrían ajustar actividades al aire libre antes del episodio. No elimina la exposición, pero puede reducirla en los grupos susceptibles.</a:t>
            </a:r>
            <a:endParaRPr lang="en-US" dirty="0"/>
          </a:p>
        </p:txBody>
      </p:sp>
      <p:pic>
        <p:nvPicPr>
          <p:cNvPr id="7" name="Image 1" descr="Icono de una institución de gobier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647" y="2240280"/>
            <a:ext cx="1175657" cy="68580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379976" y="315468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 txBox="1"/>
          <p:nvPr/>
        </p:nvSpPr>
        <p:spPr>
          <a:xfrm>
            <a:off x="4379976" y="3282696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contingencias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señal temprana para priorizar inspecciones, valorar medidas temporales o reforzar la vigilancia de quemas, dentro de los protocolos institucionales.</a:t>
            </a:r>
            <a:endParaRPr lang="en-US" dirty="0"/>
          </a:p>
        </p:txBody>
      </p:sp>
      <p:pic>
        <p:nvPicPr>
          <p:cNvPr id="10" name="Image 2" descr="Icono de capacidades técnicas loca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61" y="2240280"/>
            <a:ext cx="1388125" cy="685800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8193024" y="315468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7"/>
          <p:cNvSpPr txBox="1"/>
          <p:nvPr/>
        </p:nvSpPr>
        <p:spPr>
          <a:xfrm>
            <a:off x="8193024" y="3282696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Innovación local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Entrenar y validar modelos con datos de Sinaloa fortalece capacidades regionales en ciencia de datos y genera experiencia transferible a otras ciudades.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Alcance</a:t>
            </a:r>
            <a:endParaRPr lang="en-US" sz="2800" dirty="0"/>
          </a:p>
        </p:txBody>
      </p:sp>
      <p:pic>
        <p:nvPicPr>
          <p:cNvPr id="4" name="Image 0" descr="Marca de verific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1713517"/>
            <a:ext cx="475488" cy="475488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66928" y="228070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Sí incluye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81342" y="2953512"/>
            <a:ext cx="44297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mancha urbana de Culiacán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horizonte de 24 horas, hora por hora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de datos abiertas y públicas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diseño de la arquitectura del modelo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traducción a categorías oficiales</a:t>
            </a:r>
            <a:endParaRPr lang="en-US" dirty="0"/>
          </a:p>
        </p:txBody>
      </p:sp>
      <p:pic>
        <p:nvPicPr>
          <p:cNvPr id="7" name="Image 1" descr="Marca de exclus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1747701"/>
            <a:ext cx="475488" cy="475488"/>
          </a:xfrm>
          <a:prstGeom prst="roundRect">
            <a:avLst>
              <a:gd name="adj" fmla="val 3500"/>
            </a:avLst>
          </a:prstGeom>
          <a:effectLst>
            <a:outerShdw blurRad="90000" dist="381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300216" y="235111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E2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incluye</a:t>
            </a:r>
            <a:endParaRPr lang="en-US" dirty="0"/>
          </a:p>
        </p:txBody>
      </p:sp>
      <p:sp>
        <p:nvSpPr>
          <p:cNvPr id="9" name="Text 5"/>
          <p:cNvSpPr txBox="1"/>
          <p:nvPr/>
        </p:nvSpPr>
        <p:spPr>
          <a:xfrm>
            <a:off x="6687007" y="2953512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Fabricar sensores o instalar hardware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Desarrollar una aplicación móvil comercial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Sustituir a las estaciones normadas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que corresponden a la autoridad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validación empírica con series completas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532688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Culiacán tiene concentraciones por encima de las referencias sanitarias y un monitoreo oficial interrumpido. Los datos ciudadanos ya cubren parte del vacío, y la propuesta consiste en usarlos para anticipar en vez de solo describir. Lo que falta por hacer: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374904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66928" y="3858768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Pendiente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Entrenar el modelo con series completas y contrastar los pronósticos con mediciones independientes.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379976" y="3858768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explorar</a:t>
            </a:r>
            <a:endParaRPr lang="en-US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Incorporar fuentes adicionales, como la profundidad óptica de aerosoles obtenida por satélite.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193024" y="3749040"/>
            <a:ext cx="3429000" cy="0"/>
          </a:xfrm>
          <a:prstGeom prst="line">
            <a:avLst/>
          </a:prstGeom>
          <a:noFill/>
          <a:ln w="9525">
            <a:solidFill>
              <a:srgbClr val="D3DDE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8193024" y="3858768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Aft>
                <a:spcPts val="500"/>
              </a:spcAft>
            </a:pPr>
            <a:r>
              <a:rPr lang="es-MX" b="1" dirty="0">
                <a:solidFill>
                  <a:srgbClr val="1F4E79"/>
                </a:solidFill>
                <a:latin typeface="Trebuchet MS" pitchFamily="34" charset="0"/>
              </a:rPr>
              <a:t>Impacto real esperado</a:t>
            </a:r>
            <a:endParaRPr lang="en-US" b="1" dirty="0">
              <a:solidFill>
                <a:srgbClr val="1F4E79"/>
              </a:solidFill>
              <a:latin typeface="Trebuchet MS" pitchFamily="34" charset="0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emitida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modifique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concreta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día </a:t>
            </a:r>
            <a:r>
              <a:rPr lang="en-US" sz="1600" dirty="0" err="1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</a:t>
            </a:r>
            <a:r>
              <a:rPr lang="en-US" sz="1600" dirty="0">
                <a:solidFill>
                  <a:srgbClr val="334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7ACD62A1762041BDEAA3BEAE4963E4" ma:contentTypeVersion="4" ma:contentTypeDescription="Crear nuevo documento." ma:contentTypeScope="" ma:versionID="29f9bc6675ce3854491101033a1e447b">
  <xsd:schema xmlns:xsd="http://www.w3.org/2001/XMLSchema" xmlns:xs="http://www.w3.org/2001/XMLSchema" xmlns:p="http://schemas.microsoft.com/office/2006/metadata/properties" xmlns:ns2="6e8ace68-12da-4e2e-bc28-4593a4345cfd" targetNamespace="http://schemas.microsoft.com/office/2006/metadata/properties" ma:root="true" ma:fieldsID="86a0329ab62333d204a9b7b07433c8f2" ns2:_="">
    <xsd:import namespace="6e8ace68-12da-4e2e-bc28-4593a4345cf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8ace68-12da-4e2e-bc28-4593a4345cf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e8ace68-12da-4e2e-bc28-4593a4345cfd" xsi:nil="true"/>
  </documentManagement>
</p:properties>
</file>

<file path=customXml/itemProps1.xml><?xml version="1.0" encoding="utf-8"?>
<ds:datastoreItem xmlns:ds="http://schemas.openxmlformats.org/officeDocument/2006/customXml" ds:itemID="{D33EBC93-52B5-4A23-BEED-620DD8C84189}"/>
</file>

<file path=customXml/itemProps2.xml><?xml version="1.0" encoding="utf-8"?>
<ds:datastoreItem xmlns:ds="http://schemas.openxmlformats.org/officeDocument/2006/customXml" ds:itemID="{299C72A3-FA82-47D7-AE9D-7D5F1D776DDB}"/>
</file>

<file path=customXml/itemProps3.xml><?xml version="1.0" encoding="utf-8"?>
<ds:datastoreItem xmlns:ds="http://schemas.openxmlformats.org/officeDocument/2006/customXml" ds:itemID="{D8DC573F-59CE-445C-BB7A-847D7D1A1BB1}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1330</Words>
  <Application>Microsoft Office PowerPoint</Application>
  <PresentationFormat>Panorámica</PresentationFormat>
  <Paragraphs>139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 de PM2.5 en Culiacán</dc:title>
  <dc:subject>PptxGenJS Presentation</dc:subject>
  <dc:creator>Rodriguez López Said Armando;Santacruz Maldonado Oscar Said</dc:creator>
  <cp:lastModifiedBy>Oscar Said Santacruz</cp:lastModifiedBy>
  <cp:revision>5</cp:revision>
  <dcterms:created xsi:type="dcterms:W3CDTF">2026-09-18T02:51:47Z</dcterms:created>
  <dcterms:modified xsi:type="dcterms:W3CDTF">2026-09-18T03:16:39Z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0x010100CE7ACD62A1762041BDEAA3BEAE4963E4</vt:lpwstr>
  </property>
</Properties>
</file>